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5eae10e6d94d53" /><Relationship Type="http://schemas.openxmlformats.org/officeDocument/2006/relationships/extended-properties" Target="/docProps/app.xml" Id="R873e287889924b47" /><Relationship Type="http://schemas.openxmlformats.org/officeDocument/2006/relationships/officeDocument" Target="/ppt/presentation.xml" Id="R5be1804ed07c4c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3f354c07944ed"/>
  </p:sldMasterIdLst>
  <p:notesMasterIdLst>
    <p:notesMasterId xmlns:r="http://schemas.openxmlformats.org/officeDocument/2006/relationships" r:id="R377628b8fc174b8c"/>
  </p:notesMasterIdLst>
  <p:sldIdLst>
    <p:sldId xmlns:r="http://schemas.openxmlformats.org/officeDocument/2006/relationships" id="256" r:id="R116961d5c59f4040"/>
  </p:sldIdLst>
  <p:sldSz cx="20993100" cy="10706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e566f7da74943" /><Relationship Type="http://schemas.openxmlformats.org/officeDocument/2006/relationships/slideMaster" Target="/ppt/slideMasters/slideMaster1.xml" Id="R8483f354c07944ed" /><Relationship Type="http://schemas.openxmlformats.org/officeDocument/2006/relationships/notesMaster" Target="/ppt/notesMasters/notesMaster1.xml" Id="R377628b8fc174b8c" /><Relationship Type="http://schemas.openxmlformats.org/officeDocument/2006/relationships/presProps" Target="/ppt/presProps.xml" Id="R49d1eb67e0b94797" /><Relationship Type="http://schemas.openxmlformats.org/officeDocument/2006/relationships/tableStyles" Target="/ppt/tableStyles.xml" Id="Rc18074a974ae4553" /><Relationship Type="http://schemas.openxmlformats.org/officeDocument/2006/relationships/slide" Target="/ppt/slides/slide1.xml" Id="R116961d5c59f40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e65ff06af4c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af155ae76419a" /><Relationship Type="http://schemas.openxmlformats.org/officeDocument/2006/relationships/notesMaster" Target="/ppt/notesMasters/notesMaster1.xml" Id="R91aa250d310d4e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18 October 2026. User supplied the original image reference. Preserve one-slide layout and exact reference aspect ratio. E-TAP features are based on study.txt and current code; Windows 11 VM, Sysmon operational logs and approximately 64 eligible behavior rules are user-confirmed. No geolocation shown. No accuracy, price or production-readiness comparison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Comparison method: YES or descriptive cells reflect a documented product role; NV means the exact capability was not verified from the sources reviewed, never absence. Editions/add-ons may change capability. No comparative product testing was performed. PhishTool's basic email-analysis role is supplied in the user's original slide; its current public site/docs returned access errors during this task, so new feature claims remain NV. M-Lab identity is unspecified, so its entire column remains NV. RAG means retrieval over stored case context, not generic chat; other products' generic AI features are not assumed to prove the same implementation. Review/PDF/JSON is a combined workflow row; NV does not mean any individual function is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sources reviewed:</a:t>
            </a:r>
          </a:p>
          <a:p xmlns:a="http://schemas.openxmlformats.org/drawingml/2006/main">
            <a:r>
              <a:t>[1] MITRE ATT&amp;CK: https://attack.mitre.org/</a:t>
            </a:r>
          </a:p>
          <a:p xmlns:a="http://schemas.openxmlformats.org/drawingml/2006/main">
            <a:r>
              <a:t>[2] SPF RFC 7208: https://www.rfc-editor.org/info/rfc7208/</a:t>
            </a:r>
          </a:p>
          <a:p xmlns:a="http://schemas.openxmlformats.org/drawingml/2006/main">
            <a:r>
              <a:t>[3] DKIM RFC 6376: https://www.rfc-editor.org/info/rfc6376/</a:t>
            </a:r>
          </a:p>
          <a:p xmlns:a="http://schemas.openxmlformats.org/drawingml/2006/main">
            <a:r>
              <a:t>[4] DMARC RFC 7489: https://www.rfc-editor.org/info/rfc7489/</a:t>
            </a:r>
          </a:p>
          <a:p xmlns:a="http://schemas.openxmlformats.org/drawingml/2006/main">
            <a:r>
              <a:t>[5] OWASP GenAI: https://genai.owasp.org/</a:t>
            </a:r>
          </a:p>
          <a:p xmlns:a="http://schemas.openxmlformats.org/drawingml/2006/main">
            <a:r>
              <a:t>[6] Microsoft Sysmon: https://learn.microsoft.com/en-us/sysinternals/downloads/sysmon</a:t>
            </a:r>
          </a:p>
          <a:p xmlns:a="http://schemas.openxmlformats.org/drawingml/2006/main">
            <a:r>
              <a:t>[7] Abnormal platform: https://abnormal.ai/platform/overview</a:t>
            </a:r>
          </a:p>
          <a:p xmlns:a="http://schemas.openxmlformats.org/drawingml/2006/main">
            <a:r>
              <a:t>[8] Abnormal AI Data Analyst: https://abnormal.ai/platform/ai-data-analyst</a:t>
            </a:r>
          </a:p>
          <a:p xmlns:a="http://schemas.openxmlformats.org/drawingml/2006/main">
            <a:r>
              <a:t>[9] Abnormal QR: https://abnormal.ai/fr/newsroom/press-releases/qr-code-detector</a:t>
            </a:r>
          </a:p>
          <a:p xmlns:a="http://schemas.openxmlformats.org/drawingml/2006/main">
            <a:r>
              <a:t>[10] Microsoft Safe Attachments: https://learn.microsoft.com/en-us/defender-office-365/safe-attachments-about</a:t>
            </a:r>
          </a:p>
          <a:p xmlns:a="http://schemas.openxmlformats.org/drawingml/2006/main">
            <a:r>
              <a:t>[11] Microsoft campaigns: https://learn.microsoft.com/en-us/defender-office-365/step-by-step-guides/track-and-respond-to-emerging-threats-with-campaigns</a:t>
            </a:r>
          </a:p>
          <a:p xmlns:a="http://schemas.openxmlformats.org/drawingml/2006/main">
            <a:r>
              <a:t>[12] Microsoft QR phishing protection: https://learn.microsoft.com/en-us/shows/microsoft-sentinel-defender-xdr-virtual-ninja-training/qr-code-phishing-protection</a:t>
            </a:r>
          </a:p>
          <a:p xmlns:a="http://schemas.openxmlformats.org/drawingml/2006/main">
            <a:r>
              <a:t>[13] Proofpoint Core Email Protection: https://www.proofpoint.com/us/products/email-protection</a:t>
            </a:r>
          </a:p>
          <a:p xmlns:a="http://schemas.openxmlformats.org/drawingml/2006/main">
            <a:r>
              <a:t>[14] Proofpoint sandbox / threat-intel scope: https://www.proofpoint.com/uk/products/advanced-threat-protection/targeted-attack-protection</a:t>
            </a:r>
          </a:p>
          <a:p xmlns:a="http://schemas.openxmlformats.org/drawingml/2006/main">
            <a:r>
              <a:t>[15] Proofpoint QR: https://www.proofpoint.com/us/blog/email-and-cloud-threats/malicious-qr-code-detection-takes-giant-leap-forward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Industry reports are background research references retained from the supplied slide, not sources of performance statistics on this slide. Dataset box names only local debugging/test fixtures; it does not assert that the model was trained on all named research datasets. Native PowerPoint text, comparison table and template boxes are editable. Small icons reuse cropped original reference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1bba6149e43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93fcf000440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8e320e63246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e315abbcd41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7c83563854a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9f3ca975d41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BB216D-CEF0-446E-B1A3-BF0835B1B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99310" y="4044527"/>
            <a:ext cx="16794480" cy="154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E47388-642C-431B-8CBF-4474286BD6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48965" y="5888355"/>
            <a:ext cx="14695170" cy="1189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9C38F4-8CBA-4A1A-B656-D3AD0ECFC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99310" y="4460875"/>
            <a:ext cx="16794480" cy="178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3A971A-E778-404F-A3EE-9B1E39855F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0862" y="832697"/>
            <a:ext cx="18631376" cy="1308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AF2B71-9E02-46BA-B459-D268EEBB8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80862" y="2973917"/>
            <a:ext cx="18631376" cy="666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687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269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852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435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017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600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183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8765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348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C4BA14-6165-4E20-AB8A-086150925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0862" y="832697"/>
            <a:ext cx="18631376" cy="1308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C47766-0B6D-4D72-9FA3-25906CA364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80862" y="2973917"/>
            <a:ext cx="8659654" cy="666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687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269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852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435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017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600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183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8765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348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BB74AB-86D8-4927-BAE1-0CE3CCB969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152584" y="2973917"/>
            <a:ext cx="8659654" cy="666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687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269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852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435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017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600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183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8765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348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2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BABAF8-BEFA-4A35-A570-E4D7D1EFD5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0862" y="832697"/>
            <a:ext cx="18631376" cy="1308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DF7377-622C-4DCA-84B0-260C696D2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80862" y="2973917"/>
            <a:ext cx="8659654" cy="666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687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269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852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435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017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600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1830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87657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3483" indent="-356870" algn="l">
              <a:lnSpc>
                <a:spcPct val="110000"/>
              </a:lnSpc>
              <a:spcBef>
                <a:spcPts val="0"/>
              </a:spcBef>
              <a:spcAft>
                <a:spcPts val="1873"/>
              </a:spcAft>
              <a:buChar char="•"/>
              <a:defRPr sz="3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4d2c753784068" /><Relationship Type="http://schemas.openxmlformats.org/officeDocument/2006/relationships/slideLayout" Target="/ppt/slideLayouts/slideLayout1.xml" Id="Rc92455f76d8a4757" /><Relationship Type="http://schemas.openxmlformats.org/officeDocument/2006/relationships/slideLayout" Target="/ppt/slideLayouts/slideLayout2.xml" Id="Rc8c9477362f447af" /><Relationship Type="http://schemas.openxmlformats.org/officeDocument/2006/relationships/slideLayout" Target="/ppt/slideLayouts/slideLayout3.xml" Id="R87050f7be4dc4869" /><Relationship Type="http://schemas.openxmlformats.org/officeDocument/2006/relationships/slideLayout" Target="/ppt/slideLayouts/slideLayout4.xml" Id="R15600fbfe5c9434d" /><Relationship Type="http://schemas.openxmlformats.org/officeDocument/2006/relationships/slideLayout" Target="/ppt/slideLayouts/slideLayout5.xml" Id="Rd91e8b17e2ac4cf4" /><Relationship Type="http://schemas.openxmlformats.org/officeDocument/2006/relationships/slideLayout" Target="/ppt/slideLayouts/slideLayout6.xml" Id="R24f6b8fa2d8e41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2455f76d8a4757"/>
    <p:sldLayoutId xmlns:r="http://schemas.openxmlformats.org/officeDocument/2006/relationships" id="2147483650" r:id="Rc8c9477362f447af"/>
    <p:sldLayoutId xmlns:r="http://schemas.openxmlformats.org/officeDocument/2006/relationships" id="2147483651" r:id="R87050f7be4dc4869"/>
    <p:sldLayoutId xmlns:r="http://schemas.openxmlformats.org/officeDocument/2006/relationships" id="2147483652" r:id="R15600fbfe5c9434d"/>
    <p:sldLayoutId xmlns:r="http://schemas.openxmlformats.org/officeDocument/2006/relationships" id="2147483653" r:id="Rd91e8b17e2ac4cf4"/>
    <p:sldLayoutId xmlns:r="http://schemas.openxmlformats.org/officeDocument/2006/relationships" id="2147483654" r:id="R24f6b8fa2d8e41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f1860866c4ddb" /><Relationship Type="http://schemas.openxmlformats.org/officeDocument/2006/relationships/image" Target="/ppt/media/image.png" Id="Rb9af6ec5abaf4932" /><Relationship Type="http://schemas.openxmlformats.org/officeDocument/2006/relationships/image" Target="/ppt/media/image2.png" Id="R0553cbd13385499b" /><Relationship Type="http://schemas.openxmlformats.org/officeDocument/2006/relationships/image" Target="/ppt/media/image3.png" Id="R1347d053acd5484b" /><Relationship Type="http://schemas.openxmlformats.org/officeDocument/2006/relationships/image" Target="/ppt/media/image4.png" Id="R32ed99d38273433c" /><Relationship Type="http://schemas.openxmlformats.org/officeDocument/2006/relationships/image" Target="/ppt/media/image5.png" Id="Rc14444b2cfc94ac2" /><Relationship Type="http://schemas.openxmlformats.org/officeDocument/2006/relationships/notesSlide" Target="/ppt/notesSlides/notesSlide1.xml" Id="R75760673129a40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">
            <a:extLst xmlns:a="http://schemas.openxmlformats.org/drawingml/2006/main">
              <a:ext uri="{FF2B5EF4-FFF2-40B4-BE49-F238E27FC236}">
                <a16:creationId xmlns:a16="http://schemas.microsoft.com/office/drawing/2014/main" id="{B4DB3449-8298-4559-9E06-58E32D2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931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2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2" name="standards-panel">
            <a:extLst xmlns:a="http://schemas.openxmlformats.org/drawingml/2006/main">
              <a:ext uri="{FF2B5EF4-FFF2-40B4-BE49-F238E27FC236}">
                <a16:creationId xmlns:a16="http://schemas.microsoft.com/office/drawing/2014/main" id="{B90B49E8-CB87-475E-81DC-6E5F4D5E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04950"/>
            <a:ext cx="4210050" cy="321945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rgbClr val="BCE7FB"/>
          </a:solidFill>
          <a:ln xmlns:a="http://schemas.openxmlformats.org/drawingml/2006/main" w="0">
            <a:noFill/>
          </a:ln>
        </p:spPr>
      </p:sp>
      <p:sp>
        <p:nvSpPr>
          <p:cNvPr id="3" name="standards-heading">
            <a:extLst xmlns:a="http://schemas.openxmlformats.org/drawingml/2006/main">
              <a:ext uri="{FF2B5EF4-FFF2-40B4-BE49-F238E27FC236}">
                <a16:creationId xmlns:a16="http://schemas.microsoft.com/office/drawing/2014/main" id="{9C20B094-62A5-4179-B26F-BB0DBC5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Standards &amp; Telemetry</a:t>
            </a:r>
          </a:p>
        </p:txBody>
      </p:sp>
      <p:sp>
        <p:nvSpPr>
          <p:cNvPr id="4" name="standards-item-1">
            <a:extLst xmlns:a="http://schemas.openxmlformats.org/drawingml/2006/main">
              <a:ext uri="{FF2B5EF4-FFF2-40B4-BE49-F238E27FC236}">
                <a16:creationId xmlns:a16="http://schemas.microsoft.com/office/drawing/2014/main" id="{2B46A0C1-8442-4C2B-A9BF-9125357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MITRE ATT&amp;CK and CAPEC</a:t>
            </a:r>
          </a:p>
        </p:txBody>
      </p:sp>
      <p:sp>
        <p:nvSpPr>
          <p:cNvPr id="5" name="standards-item-2">
            <a:extLst xmlns:a="http://schemas.openxmlformats.org/drawingml/2006/main">
              <a:ext uri="{FF2B5EF4-FFF2-40B4-BE49-F238E27FC236}">
                <a16:creationId xmlns:a16="http://schemas.microsoft.com/office/drawing/2014/main" id="{0BA47846-83C4-4293-B527-0279E0B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SPF — RFC 7208</a:t>
            </a:r>
          </a:p>
        </p:txBody>
      </p:sp>
      <p:sp>
        <p:nvSpPr>
          <p:cNvPr id="6" name="standards-item-3">
            <a:extLst xmlns:a="http://schemas.openxmlformats.org/drawingml/2006/main">
              <a:ext uri="{FF2B5EF4-FFF2-40B4-BE49-F238E27FC236}">
                <a16:creationId xmlns:a16="http://schemas.microsoft.com/office/drawing/2014/main" id="{0FF84362-F5ED-4594-B3EC-739941D3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DKIM — RFC 6376</a:t>
            </a:r>
          </a:p>
        </p:txBody>
      </p:sp>
      <p:sp>
        <p:nvSpPr>
          <p:cNvPr id="7" name="standards-item-4">
            <a:extLst xmlns:a="http://schemas.openxmlformats.org/drawingml/2006/main">
              <a:ext uri="{FF2B5EF4-FFF2-40B4-BE49-F238E27FC236}">
                <a16:creationId xmlns:a16="http://schemas.microsoft.com/office/drawing/2014/main" id="{489C00B9-9E7C-44A7-AF8C-43D917F2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DMARC — RFC 7489</a:t>
            </a:r>
          </a:p>
        </p:txBody>
      </p:sp>
      <p:sp>
        <p:nvSpPr>
          <p:cNvPr id="8" name="standards-item-5">
            <a:extLst xmlns:a="http://schemas.openxmlformats.org/drawingml/2006/main">
              <a:ext uri="{FF2B5EF4-FFF2-40B4-BE49-F238E27FC236}">
                <a16:creationId xmlns:a16="http://schemas.microsoft.com/office/drawing/2014/main" id="{AAA05899-DBA9-4354-A659-47FD4839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OWASP GenAI Security</a:t>
            </a:r>
          </a:p>
        </p:txBody>
      </p:sp>
      <p:sp>
        <p:nvSpPr>
          <p:cNvPr id="9" name="standards-item-6">
            <a:extLst xmlns:a="http://schemas.openxmlformats.org/drawingml/2006/main">
              <a:ext uri="{FF2B5EF4-FFF2-40B4-BE49-F238E27FC236}">
                <a16:creationId xmlns:a16="http://schemas.microsoft.com/office/drawing/2014/main" id="{6E26EDFC-9C81-44AB-AC7F-1A94A02A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Microsoft Sysmon event telemetry</a:t>
            </a:r>
          </a:p>
        </p:txBody>
      </p:sp>
      <p:sp>
        <p:nvSpPr>
          <p:cNvPr id="10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2DA41C0E-5A31-465B-A445-F1EC1624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14900"/>
            <a:ext cx="413385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D8C5FA"/>
          </a:solidFill>
          <a:ln xmlns:a="http://schemas.openxmlformats.org/drawingml/2006/main" w="0">
            <a:noFill/>
          </a:ln>
        </p:spPr>
      </p:sp>
      <p:sp>
        <p:nvSpPr>
          <p:cNvPr id="11" name="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C0BE1380-64B9-4502-8592-92E98C8D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Current Architecture</a:t>
            </a:r>
          </a:p>
        </p:txBody>
      </p:sp>
      <p:sp>
        <p:nvSpPr>
          <p:cNvPr id="12" name="architecture-item-1">
            <a:extLst xmlns:a="http://schemas.openxmlformats.org/drawingml/2006/main">
              <a:ext uri="{FF2B5EF4-FFF2-40B4-BE49-F238E27FC236}">
                <a16:creationId xmlns:a16="http://schemas.microsoft.com/office/drawing/2014/main" id="{85AABBD0-683B-44EC-9825-4AD427C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EML/MSG + Gmail original retrieval</a:t>
            </a:r>
          </a:p>
        </p:txBody>
      </p:sp>
      <p:sp>
        <p:nvSpPr>
          <p:cNvPr id="13" name="architecture-item-2">
            <a:extLst xmlns:a="http://schemas.openxmlformats.org/drawingml/2006/main">
              <a:ext uri="{FF2B5EF4-FFF2-40B4-BE49-F238E27FC236}">
                <a16:creationId xmlns:a16="http://schemas.microsoft.com/office/drawing/2014/main" id="{BB5FB8A8-5D29-491C-9038-7887B18B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Static + Win11 VM attachment checks</a:t>
            </a:r>
          </a:p>
        </p:txBody>
      </p:sp>
      <p:sp>
        <p:nvSpPr>
          <p:cNvPr id="14" name="architecture-item-3">
            <a:extLst xmlns:a="http://schemas.openxmlformats.org/drawingml/2006/main">
              <a:ext uri="{FF2B5EF4-FFF2-40B4-BE49-F238E27FC236}">
                <a16:creationId xmlns:a16="http://schemas.microsoft.com/office/drawing/2014/main" id="{22EF4879-FC73-456C-B441-727BB68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Sysmon: ~64 eligible behavior rules</a:t>
            </a:r>
          </a:p>
        </p:txBody>
      </p:sp>
      <p:sp>
        <p:nvSpPr>
          <p:cNvPr id="15" name="architecture-item-4">
            <a:extLst xmlns:a="http://schemas.openxmlformats.org/drawingml/2006/main">
              <a:ext uri="{FF2B5EF4-FFF2-40B4-BE49-F238E27FC236}">
                <a16:creationId xmlns:a16="http://schemas.microsoft.com/office/drawing/2014/main" id="{167D97DD-262F-4B62-A1EB-936DF487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QR decoding + Tesseract OCR</a:t>
            </a:r>
          </a:p>
        </p:txBody>
      </p:sp>
      <p:sp>
        <p:nvSpPr>
          <p:cNvPr id="16" name="architecture-item-5">
            <a:extLst xmlns:a="http://schemas.openxmlformats.org/drawingml/2006/main">
              <a:ext uri="{FF2B5EF4-FFF2-40B4-BE49-F238E27FC236}">
                <a16:creationId xmlns:a16="http://schemas.microsoft.com/office/drawing/2014/main" id="{D8A2DBAF-3BE0-4FDB-B812-340F82A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XGBoost triage + Gemini assessment</a:t>
            </a:r>
          </a:p>
        </p:txBody>
      </p:sp>
      <p:sp>
        <p:nvSpPr>
          <p:cNvPr id="17" name="architecture-item-6">
            <a:extLst xmlns:a="http://schemas.openxmlformats.org/drawingml/2006/main">
              <a:ext uri="{FF2B5EF4-FFF2-40B4-BE49-F238E27FC236}">
                <a16:creationId xmlns:a16="http://schemas.microsoft.com/office/drawing/2014/main" id="{DF21D970-CA94-4B06-B91D-89F9880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9723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IOC campaigns + graph diffusion</a:t>
            </a:r>
          </a:p>
        </p:txBody>
      </p:sp>
      <p:sp>
        <p:nvSpPr>
          <p:cNvPr id="18" name="architecture-item-7">
            <a:extLst xmlns:a="http://schemas.openxmlformats.org/drawingml/2006/main">
              <a:ext uri="{FF2B5EF4-FFF2-40B4-BE49-F238E27FC236}">
                <a16:creationId xmlns:a16="http://schemas.microsoft.com/office/drawing/2014/main" id="{FADFB4AA-D7C0-4A8F-949D-13920960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RAG case chat; evidence reports</a:t>
            </a:r>
          </a:p>
        </p:txBody>
      </p:sp>
      <p:sp>
        <p:nvSpPr>
          <p:cNvPr id="19" name="domains-panel">
            <a:extLst xmlns:a="http://schemas.openxmlformats.org/drawingml/2006/main">
              <a:ext uri="{FF2B5EF4-FFF2-40B4-BE49-F238E27FC236}">
                <a16:creationId xmlns:a16="http://schemas.microsoft.com/office/drawing/2014/main" id="{ABD9B969-62EE-49E4-967B-53A20F9B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886700"/>
            <a:ext cx="4210050" cy="2743200"/>
          </a:xfrm>
          <a:prstGeom xmlns:a="http://schemas.openxmlformats.org/drawingml/2006/main" prst="roundRect">
            <a:avLst>
              <a:gd name="adj" fmla="val 7639"/>
            </a:avLst>
          </a:prstGeom>
          <a:solidFill xmlns:a="http://schemas.openxmlformats.org/drawingml/2006/main">
            <a:srgbClr val="FFF2BC"/>
          </a:solidFill>
          <a:ln xmlns:a="http://schemas.openxmlformats.org/drawingml/2006/main" w="0">
            <a:noFill/>
          </a:ln>
        </p:spPr>
      </p:sp>
      <p:sp>
        <p:nvSpPr>
          <p:cNvPr id="20" name="domains-heading">
            <a:extLst xmlns:a="http://schemas.openxmlformats.org/drawingml/2006/main">
              <a:ext uri="{FF2B5EF4-FFF2-40B4-BE49-F238E27FC236}">
                <a16:creationId xmlns:a16="http://schemas.microsoft.com/office/drawing/2014/main" id="{AEEE7198-6547-4DC9-A506-D85E540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391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Investigation Scope</a:t>
            </a:r>
          </a:p>
        </p:txBody>
      </p:sp>
      <p:sp>
        <p:nvSpPr>
          <p:cNvPr id="21" name="domains-item-1">
            <a:extLst xmlns:a="http://schemas.openxmlformats.org/drawingml/2006/main">
              <a:ext uri="{FF2B5EF4-FFF2-40B4-BE49-F238E27FC236}">
                <a16:creationId xmlns:a16="http://schemas.microsoft.com/office/drawing/2014/main" id="{1CB85358-2494-4370-BA76-FEBC9611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15350"/>
            <a:ext cx="3867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Header authentication and routing</a:t>
            </a:r>
          </a:p>
        </p:txBody>
      </p:sp>
      <p:sp>
        <p:nvSpPr>
          <p:cNvPr id="22" name="domains-item-2">
            <a:extLst xmlns:a="http://schemas.openxmlformats.org/drawingml/2006/main">
              <a:ext uri="{FF2B5EF4-FFF2-40B4-BE49-F238E27FC236}">
                <a16:creationId xmlns:a16="http://schemas.microsoft.com/office/drawing/2014/main" id="{A38BD67C-87BE-4B49-B0D3-73E3979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829675"/>
            <a:ext cx="3867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Static + dynamic attachment behavior</a:t>
            </a:r>
          </a:p>
        </p:txBody>
      </p:sp>
      <p:sp>
        <p:nvSpPr>
          <p:cNvPr id="23" name="domains-item-3">
            <a:extLst xmlns:a="http://schemas.openxmlformats.org/drawingml/2006/main">
              <a:ext uri="{FF2B5EF4-FFF2-40B4-BE49-F238E27FC236}">
                <a16:creationId xmlns:a16="http://schemas.microsoft.com/office/drawing/2014/main" id="{566639B8-01C8-494D-AB6F-B3AA70BA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0"/>
            <a:ext cx="3867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QR phishing and image evidence</a:t>
            </a:r>
          </a:p>
        </p:txBody>
      </p:sp>
      <p:sp>
        <p:nvSpPr>
          <p:cNvPr id="24" name="domains-item-4">
            <a:extLst xmlns:a="http://schemas.openxmlformats.org/drawingml/2006/main">
              <a:ext uri="{FF2B5EF4-FFF2-40B4-BE49-F238E27FC236}">
                <a16:creationId xmlns:a16="http://schemas.microsoft.com/office/drawing/2014/main" id="{57ED106A-F69F-4C93-AA83-2512372A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58325"/>
            <a:ext cx="3867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IOC reputation and case correlation</a:t>
            </a:r>
          </a:p>
        </p:txBody>
      </p:sp>
      <p:sp>
        <p:nvSpPr>
          <p:cNvPr id="25" name="domains-item-5">
            <a:extLst xmlns:a="http://schemas.openxmlformats.org/drawingml/2006/main">
              <a:ext uri="{FF2B5EF4-FFF2-40B4-BE49-F238E27FC236}">
                <a16:creationId xmlns:a16="http://schemas.microsoft.com/office/drawing/2014/main" id="{1603BB44-0CC6-4FDE-B62C-9E321DD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72650"/>
            <a:ext cx="3867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Evidence-based AI; MITRE mapping</a:t>
            </a:r>
          </a:p>
        </p:txBody>
      </p:sp>
      <p:sp>
        <p:nvSpPr>
          <p:cNvPr id="26" name="domains-item-6">
            <a:extLst xmlns:a="http://schemas.openxmlformats.org/drawingml/2006/main">
              <a:ext uri="{FF2B5EF4-FFF2-40B4-BE49-F238E27FC236}">
                <a16:creationId xmlns:a16="http://schemas.microsoft.com/office/drawing/2014/main" id="{A8051FB3-A72F-4888-8DEA-73B467F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86975"/>
            <a:ext cx="3867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Review, exports and retention</a:t>
            </a:r>
          </a:p>
        </p:txBody>
      </p:sp>
      <p:sp>
        <p:nvSpPr>
          <p:cNvPr id="27" name="datasets-panel">
            <a:extLst xmlns:a="http://schemas.openxmlformats.org/drawingml/2006/main">
              <a:ext uri="{FF2B5EF4-FFF2-40B4-BE49-F238E27FC236}">
                <a16:creationId xmlns:a16="http://schemas.microsoft.com/office/drawing/2014/main" id="{7160FEA5-979E-4A58-AB17-4B513CAB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33700"/>
            <a:ext cx="36957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D8F1CF"/>
          </a:solidFill>
          <a:ln xmlns:a="http://schemas.openxmlformats.org/drawingml/2006/main" w="0">
            <a:noFill/>
          </a:ln>
        </p:spPr>
      </p:sp>
      <p:sp>
        <p:nvSpPr>
          <p:cNvPr id="28" name="datasets-heading">
            <a:extLst xmlns:a="http://schemas.openxmlformats.org/drawingml/2006/main">
              <a:ext uri="{FF2B5EF4-FFF2-40B4-BE49-F238E27FC236}">
                <a16:creationId xmlns:a16="http://schemas.microsoft.com/office/drawing/2014/main" id="{1949B8AB-B4A7-4724-AB17-4848EA1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Datasets &amp; Validation</a:t>
            </a:r>
          </a:p>
        </p:txBody>
      </p:sp>
      <p:sp>
        <p:nvSpPr>
          <p:cNvPr id="29" name="datasets-item-1">
            <a:extLst xmlns:a="http://schemas.openxmlformats.org/drawingml/2006/main">
              <a:ext uri="{FF2B5EF4-FFF2-40B4-BE49-F238E27FC236}">
                <a16:creationId xmlns:a16="http://schemas.microsoft.com/office/drawing/2014/main" id="{7D6BEB13-B182-41F5-88A1-89A4A74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SpamAssassin debugging fixtures</a:t>
            </a:r>
          </a:p>
        </p:txBody>
      </p:sp>
      <p:sp>
        <p:nvSpPr>
          <p:cNvPr id="30" name="datasets-item-2">
            <a:extLst xmlns:a="http://schemas.openxmlformats.org/drawingml/2006/main">
              <a:ext uri="{FF2B5EF4-FFF2-40B4-BE49-F238E27FC236}">
                <a16:creationId xmlns:a16="http://schemas.microsoft.com/office/drawing/2014/main" id="{D8E61C83-4611-42EA-9967-4349A40F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2907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Synthetic EML/MSG and QR fixtures</a:t>
            </a:r>
          </a:p>
        </p:txBody>
      </p:sp>
      <p:sp>
        <p:nvSpPr>
          <p:cNvPr id="31" name="datasets-item-3">
            <a:extLst xmlns:a="http://schemas.openxmlformats.org/drawingml/2006/main">
              <a:ext uri="{FF2B5EF4-FFF2-40B4-BE49-F238E27FC236}">
                <a16:creationId xmlns:a16="http://schemas.microsoft.com/office/drawing/2014/main" id="{826F385F-D06C-44B9-9F88-FD9898FF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Macro, PII and provider-response tests</a:t>
            </a:r>
          </a:p>
        </p:txBody>
      </p:sp>
      <p:sp>
        <p:nvSpPr>
          <p:cNvPr id="32" name="datasets-item-4">
            <a:extLst xmlns:a="http://schemas.openxmlformats.org/drawingml/2006/main">
              <a:ext uri="{FF2B5EF4-FFF2-40B4-BE49-F238E27FC236}">
                <a16:creationId xmlns:a16="http://schemas.microsoft.com/office/drawing/2014/main" id="{96CC44BF-EB01-4565-AEBF-DEACE196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625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Broader phishing benchmarks: planned</a:t>
            </a:r>
          </a:p>
        </p:txBody>
      </p:sp>
      <p:sp>
        <p:nvSpPr>
          <p:cNvPr id="33" name="dataset-limit">
            <a:extLst xmlns:a="http://schemas.openxmlformats.org/drawingml/2006/main">
              <a:ext uri="{FF2B5EF4-FFF2-40B4-BE49-F238E27FC236}">
                <a16:creationId xmlns:a16="http://schemas.microsoft.com/office/drawing/2014/main" id="{488F5ADF-A85A-4975-8EE6-42E13B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753100"/>
            <a:ext cx="3305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D5A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D5A35"/>
                </a:solidFill>
                <a:latin typeface="Arial"/>
                <a:ea typeface="Arial"/>
                <a:cs typeface="Arial"/>
              </a:rPr>
              <a:t>Fixture tests are not a production benchmark.</a:t>
            </a:r>
          </a:p>
        </p:txBody>
      </p:sp>
      <p:sp>
        <p:nvSpPr>
          <p:cNvPr id="34" name="references-panel">
            <a:extLst xmlns:a="http://schemas.openxmlformats.org/drawingml/2006/main">
              <a:ext uri="{FF2B5EF4-FFF2-40B4-BE49-F238E27FC236}">
                <a16:creationId xmlns:a16="http://schemas.microsoft.com/office/drawing/2014/main" id="{1F2E590B-113E-4E37-BCBC-54C3718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477000"/>
            <a:ext cx="3962400" cy="3067050"/>
          </a:xfrm>
          <a:prstGeom xmlns:a="http://schemas.openxmlformats.org/drawingml/2006/main" prst="roundRect">
            <a:avLst>
              <a:gd name="adj" fmla="val 6832"/>
            </a:avLst>
          </a:prstGeom>
          <a:solidFill xmlns:a="http://schemas.openxmlformats.org/drawingml/2006/main">
            <a:srgbClr val="FFD7BF"/>
          </a:solidFill>
          <a:ln xmlns:a="http://schemas.openxmlformats.org/drawingml/2006/main" w="0">
            <a:noFill/>
          </a:ln>
        </p:spPr>
      </p:sp>
      <p:sp>
        <p:nvSpPr>
          <p:cNvPr id="35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15055CA4-30E0-46C7-B9E4-FBCA919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6294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Technical &amp; Industry Sources</a:t>
            </a:r>
          </a:p>
        </p:txBody>
      </p:sp>
      <p:sp>
        <p:nvSpPr>
          <p:cNvPr id="36" name="references-item-1">
            <a:extLst xmlns:a="http://schemas.openxmlformats.org/drawingml/2006/main">
              <a:ext uri="{FF2B5EF4-FFF2-40B4-BE49-F238E27FC236}">
                <a16:creationId xmlns:a16="http://schemas.microsoft.com/office/drawing/2014/main" id="{344E558D-E029-4F93-84D7-03F110A8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1056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Microsoft Sysmon documentation</a:t>
            </a:r>
          </a:p>
        </p:txBody>
      </p:sp>
      <p:sp>
        <p:nvSpPr>
          <p:cNvPr id="37" name="references-item-2">
            <a:extLst xmlns:a="http://schemas.openxmlformats.org/drawingml/2006/main">
              <a:ext uri="{FF2B5EF4-FFF2-40B4-BE49-F238E27FC236}">
                <a16:creationId xmlns:a16="http://schemas.microsoft.com/office/drawing/2014/main" id="{56134A20-7332-4167-985B-0B24CAA4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5807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VirusTotal / AbuseIPDB API docs</a:t>
            </a:r>
          </a:p>
        </p:txBody>
      </p:sp>
      <p:sp>
        <p:nvSpPr>
          <p:cNvPr id="38" name="references-item-3">
            <a:extLst xmlns:a="http://schemas.openxmlformats.org/drawingml/2006/main">
              <a:ext uri="{FF2B5EF4-FFF2-40B4-BE49-F238E27FC236}">
                <a16:creationId xmlns:a16="http://schemas.microsoft.com/office/drawing/2014/main" id="{187045A0-5F90-4469-A80B-45972173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8105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MITRE ATT&amp;CK knowledge base</a:t>
            </a:r>
          </a:p>
        </p:txBody>
      </p:sp>
      <p:sp>
        <p:nvSpPr>
          <p:cNvPr id="39" name="references-item-4">
            <a:extLst xmlns:a="http://schemas.openxmlformats.org/drawingml/2006/main">
              <a:ext uri="{FF2B5EF4-FFF2-40B4-BE49-F238E27FC236}">
                <a16:creationId xmlns:a16="http://schemas.microsoft.com/office/drawing/2014/main" id="{3053DAF7-7EB3-46BC-A5D1-BEC8F9CA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81629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OWASP GenAI Security guidance</a:t>
            </a:r>
          </a:p>
        </p:txBody>
      </p:sp>
      <p:sp>
        <p:nvSpPr>
          <p:cNvPr id="40" name="references-item-5">
            <a:extLst xmlns:a="http://schemas.openxmlformats.org/drawingml/2006/main">
              <a:ext uri="{FF2B5EF4-FFF2-40B4-BE49-F238E27FC236}">
                <a16:creationId xmlns:a16="http://schemas.microsoft.com/office/drawing/2014/main" id="{9F38E9FD-B8A5-497F-9D2C-A023DA0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85153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CERT-In reports; Verizon DBIR</a:t>
            </a:r>
          </a:p>
        </p:txBody>
      </p:sp>
      <p:sp>
        <p:nvSpPr>
          <p:cNvPr id="41" name="references-item-6">
            <a:extLst xmlns:a="http://schemas.openxmlformats.org/drawingml/2006/main">
              <a:ext uri="{FF2B5EF4-FFF2-40B4-BE49-F238E27FC236}">
                <a16:creationId xmlns:a16="http://schemas.microsoft.com/office/drawing/2014/main" id="{CE4843CF-1D25-4BC7-BE9C-F01C6AEA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886777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 Mandiant M-Trends research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9C4381-A879-4929-B11A-4E948534B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f6ec5abaf4932"/>
          <a:srcRect xmlns:a="http://schemas.openxmlformats.org/drawingml/2006/main" l="726" t="12811" r="96461" b="81317"/>
          <a:stretch xmlns:a="http://schemas.openxmlformats.org/drawingml/2006/main"/>
        </p:blipFill>
        <p:spPr>
          <a:xfrm xmlns:a="http://schemas.openxmlformats.org/drawingml/2006/main">
            <a:off x="152400" y="1381125"/>
            <a:ext cx="571500" cy="60960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A8DB06-FAFA-4D8F-B586-6AF49801A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3cbd13385499b"/>
          <a:srcRect xmlns:a="http://schemas.openxmlformats.org/drawingml/2006/main" l="272" t="45018" r="97005" b="49466"/>
          <a:stretch xmlns:a="http://schemas.openxmlformats.org/drawingml/2006/main"/>
        </p:blipFill>
        <p:spPr>
          <a:xfrm xmlns:a="http://schemas.openxmlformats.org/drawingml/2006/main">
            <a:off x="76200" y="4791075"/>
            <a:ext cx="571500" cy="5905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0B6C50-32F6-4116-91B3-7421DD0E3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7d053acd5484b"/>
          <a:srcRect xmlns:a="http://schemas.openxmlformats.org/drawingml/2006/main" l="1089" t="72776" r="96007" b="21708"/>
          <a:stretch xmlns:a="http://schemas.openxmlformats.org/drawingml/2006/main"/>
        </p:blipFill>
        <p:spPr>
          <a:xfrm xmlns:a="http://schemas.openxmlformats.org/drawingml/2006/main">
            <a:off x="228600" y="7753350"/>
            <a:ext cx="609600" cy="5905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530AA6-0989-41C6-AEA9-5B6B8656A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d99d38273433c"/>
          <a:srcRect xmlns:a="http://schemas.openxmlformats.org/drawingml/2006/main" l="21688" t="26157" r="75136" b="67438"/>
          <a:stretch xmlns:a="http://schemas.openxmlformats.org/drawingml/2006/main"/>
        </p:blipFill>
        <p:spPr>
          <a:xfrm xmlns:a="http://schemas.openxmlformats.org/drawingml/2006/main">
            <a:off x="4552950" y="2800350"/>
            <a:ext cx="666750" cy="68580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6E319D-B5F0-4334-B82F-D22FBEAA8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444b2cfc94ac2"/>
          <a:srcRect xmlns:a="http://schemas.openxmlformats.org/drawingml/2006/main" l="22232" t="58897" r="74592" b="35053"/>
          <a:stretch xmlns:a="http://schemas.openxmlformats.org/drawingml/2006/main"/>
        </p:blipFill>
        <p:spPr>
          <a:xfrm xmlns:a="http://schemas.openxmlformats.org/drawingml/2006/main">
            <a:off x="4667250" y="6305550"/>
            <a:ext cx="666750" cy="6477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745C3A-2555-4997-8545-D32F2F1C3FD5}"/>
              </a:ext>
            </a:extLst>
          </p:cNvPr>
          <p:cNvGraphicFramePr/>
          <p:nvPr/>
        </p:nvGraphicFramePr>
        <p:xfrm>
          <a:off xmlns:a="http://schemas.openxmlformats.org/drawingml/2006/main" x="8896350" y="1943100"/>
          <a:ext xmlns:a="http://schemas.openxmlformats.org/drawingml/2006/main" cx="11944350" cy="742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1409700"/>
                <a:gridCol w="1543050"/>
                <a:gridCol w="1276350"/>
                <a:gridCol w="1181100"/>
                <a:gridCol w="1581150"/>
                <a:gridCol w="1428750"/>
              </a:tblGrid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T w="24765">
                      <a:solidFill>
                        <a:srgbClr val="111111"/>
                      </a:solidFill>
                      <a:prstDash val="solid"/>
                    </a:lnT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5C8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latin typeface="Arial"/>
                          <a:ea typeface="Arial"/>
                          <a:cs typeface="Arial"/>
                        </a:rPr>
                        <a:t>E-TAP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T w="24765">
                      <a:solidFill>
                        <a:srgbClr val="111111"/>
                      </a:solidFill>
                      <a:prstDash val="solid"/>
                    </a:lnT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5C8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latin typeface="Arial"/>
                          <a:ea typeface="Arial"/>
                          <a:cs typeface="Arial"/>
                        </a:rPr>
                        <a:t>Abnormal AI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T w="24765">
                      <a:solidFill>
                        <a:srgbClr val="111111"/>
                      </a:solidFill>
                      <a:prstDash val="solid"/>
                    </a:lnT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5C8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latin typeface="Arial"/>
                          <a:ea typeface="Arial"/>
                          <a:cs typeface="Arial"/>
                        </a:rPr>
                        <a:t>PhishTool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T w="24765">
                      <a:solidFill>
                        <a:srgbClr val="111111"/>
                      </a:solidFill>
                      <a:prstDash val="solid"/>
                    </a:lnT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5C8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latin typeface="Arial"/>
                          <a:ea typeface="Arial"/>
                          <a:cs typeface="Arial"/>
                        </a:rPr>
                        <a:t>M-Lab†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T w="24765">
                      <a:solidFill>
                        <a:srgbClr val="111111"/>
                      </a:solidFill>
                      <a:prstDash val="solid"/>
                    </a:lnT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5C8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latin typeface="Arial"/>
                          <a:ea typeface="Arial"/>
                          <a:cs typeface="Arial"/>
                        </a:rPr>
                        <a:t>Defender 365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T w="24765">
                      <a:solidFill>
                        <a:srgbClr val="111111"/>
                      </a:solidFill>
                      <a:prstDash val="solid"/>
                    </a:lnT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5C8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latin typeface="Arial"/>
                          <a:ea typeface="Arial"/>
                          <a:cs typeface="Arial"/>
                        </a:rPr>
                        <a:t>Proofpoint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T w="24765">
                      <a:solidFill>
                        <a:srgbClr val="111111"/>
                      </a:solidFill>
                      <a:prstDash val="solid"/>
                    </a:lnT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5C89C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Email analysis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IOC / intel enrichment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VT / APIs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Native intel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Native intel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Native intel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Dynamic attachment analysis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Win11 VM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Sandbox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Sandbox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QR phishing links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Campaign correlation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Plan 2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Investigation reports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Evidence + AI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AI analyst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Plan 2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Workbench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RAG over stored cases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Visual investigation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Graph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Dashboard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Explorer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Workbench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D8F6CD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latin typeface="Arial"/>
                          <a:ea typeface="Arial"/>
                          <a:cs typeface="Arial"/>
                        </a:rPr>
                        <a:t>Review / PDF / JSON</a:t>
                      </a:r>
                    </a:p>
                  </a:txBody>
                  <a:tcPr marL="66675" marR="66675" marT="76200" marB="76200" anchor="ctr" horzOverflow="clip">
                    <a:lnL w="24765">
                      <a:solidFill>
                        <a:srgbClr val="111111"/>
                      </a:solidFill>
                      <a:prstDash val="solid"/>
                    </a:lnL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0C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BCF7A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56334"/>
                          </a:solidFill>
                          <a:latin typeface="Arial"/>
                          <a:ea typeface="Arial"/>
                          <a:cs typeface="Arial"/>
                        </a:rPr>
                        <a:t>NV</a:t>
                      </a:r>
                    </a:p>
                  </a:txBody>
                  <a:tcPr marL="66675" marR="66675" marT="76200" marB="76200" anchor="ctr" horzOverflow="clip">
                    <a:lnR w="24765">
                      <a:solidFill>
                        <a:srgbClr val="111111"/>
                      </a:solidFill>
                      <a:prstDash val="solid"/>
                    </a:lnR>
                    <a:lnB w="24765">
                      <a:solidFill>
                        <a:srgbClr val="111111"/>
                      </a:solidFill>
                      <a:prstDash val="solid"/>
                    </a:lnB>
                    <a:solidFill>
                      <a:srgbClr val="FFF5C1"/>
                    </a:solidFill>
                  </a:tcPr>
                </a:tc>
              </a:tr>
            </a:tbl>
          </a:graphicData>
        </a:graphic>
      </p:graphicFrame>
      <p:sp>
        <p:nvSpPr>
          <p:cNvPr id="48" name="legend">
            <a:extLst xmlns:a="http://schemas.openxmlformats.org/drawingml/2006/main">
              <a:ext uri="{FF2B5EF4-FFF2-40B4-BE49-F238E27FC236}">
                <a16:creationId xmlns:a16="http://schemas.microsoft.com/office/drawing/2014/main" id="{C3521152-65FA-4677-B0F3-09A8B0DC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9458325"/>
            <a:ext cx="1190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YES = documented capability; NV = not verified, not absence. Editions and add-ons vary.</a:t>
            </a:r>
          </a:p>
        </p:txBody>
      </p:sp>
      <p:sp>
        <p:nvSpPr>
          <p:cNvPr id="49" name="identity-note">
            <a:extLst xmlns:a="http://schemas.openxmlformats.org/drawingml/2006/main">
              <a:ext uri="{FF2B5EF4-FFF2-40B4-BE49-F238E27FC236}">
                <a16:creationId xmlns:a16="http://schemas.microsoft.com/office/drawing/2014/main" id="{BDC72CD1-6008-406F-BA7A-FB865FD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9715500"/>
            <a:ext cx="1190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defPPr>
            <a:lvl1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1pPr>
            <a:lvl2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2pPr>
            <a:lvl3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3pPr>
            <a:lvl4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4pPr>
            <a:lvl5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5pPr>
            <a:lvl6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6pPr>
            <a:lvl7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7pPr>
            <a:lvl8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8pPr>
            <a:lvl9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3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† M-Lab identity is unspecified. Capability comparison, not a detection-performance benchmark.</a:t>
            </a:r>
          </a:p>
        </p:txBody>
      </p:sp>
      <p:sp>
        <p:nvSpPr>
          <p:cNvPr id="50" name="positioning-outline">
            <a:extLst xmlns:a="http://schemas.openxmlformats.org/drawingml/2006/main">
              <a:ext uri="{FF2B5EF4-FFF2-40B4-BE49-F238E27FC236}">
                <a16:creationId xmlns:a16="http://schemas.microsoft.com/office/drawing/2014/main" id="{2A13C156-8B99-46F3-813D-7EEF50B3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0077450"/>
            <a:ext cx="10287000" cy="504825"/>
          </a:xfrm>
          <a:prstGeom xmlns:a="http://schemas.openxmlformats.org/drawingml/2006/main" prst="roundRect">
            <a:avLst>
              <a:gd name="adj" fmla="val 471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09853"/>
            </a:solidFill>
          </a:ln>
        </p:spPr>
      </p:sp>
      <p:sp>
        <p:nvSpPr>
          <p:cNvPr id="51" name="positioning">
            <a:extLst xmlns:a="http://schemas.openxmlformats.org/drawingml/2006/main">
              <a:ext uri="{FF2B5EF4-FFF2-40B4-BE49-F238E27FC236}">
                <a16:creationId xmlns:a16="http://schemas.microsoft.com/office/drawing/2014/main" id="{BEE225B6-8A7F-4607-9AA6-8A53F76E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096500"/>
            <a:ext cx="998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E-TAP combines forensic evidence, VM behavior and contextual AI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one workspace for research and analyst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52036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2026-10-18T04:26:00.4340000Z</dcterms:created>
  <dcterms:modified xsi:type="dcterms:W3CDTF">2026-10-18T04:26:00.4340000Z</dcterms:modified>
</coreProperties>
</file>